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65" r:id="rId5"/>
    <p:sldId id="258" r:id="rId6"/>
    <p:sldId id="259" r:id="rId7"/>
    <p:sldId id="271" r:id="rId8"/>
    <p:sldId id="264" r:id="rId9"/>
    <p:sldId id="267" r:id="rId10"/>
    <p:sldId id="263" r:id="rId11"/>
    <p:sldId id="270" r:id="rId12"/>
    <p:sldId id="268" r:id="rId13"/>
    <p:sldId id="269"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4C067-A481-7E57-F7F2-1AE0183D0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B48D4-BF16-7F7C-F632-5EBB43C38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E2CB67-4452-E804-923D-7C5DEC7CFE18}"/>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C061CD8C-25A4-2D26-B4FB-8157B6596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FCFAB-A45B-FAE8-08B0-21395E1353DA}"/>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1046216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8105-B096-9E09-E7F4-0BBA63AFF7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7BB298-6A48-705F-8BAC-496E0FDBA1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B0B1F-97C0-A8F1-BF21-B50177FC58D2}"/>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D1F93091-0BD8-94F6-CB0D-623AD4EE9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FE84A0-4A46-D5B1-F854-AC814B9EDE3D}"/>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1266008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3726-8A29-035E-BF19-E8C46D7772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3403DA-8567-6A06-E9AD-8A51B42A07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94E21A-1750-ABE9-5B12-43F8FF7D0FBB}"/>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72732229-46D9-F2C1-4B23-86CC9D646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D4F00-B722-7ECF-88EC-553F81B6122B}"/>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560975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DDC2-D5A5-F205-A1B1-ABD9515AD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0F8A17-55CE-70D5-C31A-79AC31148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F78EED-7ED4-384E-0741-88FAF672F1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2323AE-47DC-D100-65BD-2CE233A8B9CD}"/>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6" name="Footer Placeholder 5">
            <a:extLst>
              <a:ext uri="{FF2B5EF4-FFF2-40B4-BE49-F238E27FC236}">
                <a16:creationId xmlns:a16="http://schemas.microsoft.com/office/drawing/2014/main" id="{3B7D35F9-1D73-1A88-253D-FF1C828D2D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C6AFBE-36E8-4BCB-A0AD-066E7926E5A2}"/>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2677973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DFF0A-4CE2-DF67-260F-6462673A20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EAE78D-9A57-9CFE-670C-62FAEB458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F2DE7B-AB75-659B-5B27-D78105477D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66E119-C751-2AF4-9D72-6533E00E3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9FAC7A-A5BB-C231-C21E-AC3A36A2D9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98E1DD-C390-0D64-5CDF-E3DD7B866F75}"/>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8" name="Footer Placeholder 7">
            <a:extLst>
              <a:ext uri="{FF2B5EF4-FFF2-40B4-BE49-F238E27FC236}">
                <a16:creationId xmlns:a16="http://schemas.microsoft.com/office/drawing/2014/main" id="{F34E5E6F-D433-5445-07C5-4479E355E5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085664-29C0-42C2-BFDC-E9BD213583EA}"/>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3513317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1155-E9A0-675B-6184-CC0992186E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E9C15B-CBA9-DE00-299C-BA0CABCED8D9}"/>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4" name="Footer Placeholder 3">
            <a:extLst>
              <a:ext uri="{FF2B5EF4-FFF2-40B4-BE49-F238E27FC236}">
                <a16:creationId xmlns:a16="http://schemas.microsoft.com/office/drawing/2014/main" id="{96A73645-132E-5834-C5A0-305227B5BB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52F3B1-4D12-0E78-0A9A-CC560A3AA0B9}"/>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3576678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F22BD0-75D6-F3FA-A9C6-0CC5BA77C220}"/>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3" name="Footer Placeholder 2">
            <a:extLst>
              <a:ext uri="{FF2B5EF4-FFF2-40B4-BE49-F238E27FC236}">
                <a16:creationId xmlns:a16="http://schemas.microsoft.com/office/drawing/2014/main" id="{37A7BC1C-9D44-8B3C-D863-344FBDF8A3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A90C9-9B41-FBF7-2402-F9AB811518D6}"/>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2871305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093B0-0A19-4031-6664-A8A9EF73F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9C7AE8-8397-612C-10D3-4ED961CA03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7016B1-B5BF-A870-BA40-270B33C2C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2DC37D-DB26-209E-58ED-4548B043B227}"/>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6" name="Footer Placeholder 5">
            <a:extLst>
              <a:ext uri="{FF2B5EF4-FFF2-40B4-BE49-F238E27FC236}">
                <a16:creationId xmlns:a16="http://schemas.microsoft.com/office/drawing/2014/main" id="{CE8A9797-1F79-DD1C-00E6-9E930168E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A48B23-D941-C8CA-8D7A-12CD337BDA2E}"/>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2626748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E208-F098-CE64-B1E0-45863948DC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E0962C-C81F-5762-8D90-B0E41D2E4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DAD4E8-F0A0-2C74-A84E-A5B071895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86FA98-8492-DF3D-843E-6A91F3075F96}"/>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6" name="Footer Placeholder 5">
            <a:extLst>
              <a:ext uri="{FF2B5EF4-FFF2-40B4-BE49-F238E27FC236}">
                <a16:creationId xmlns:a16="http://schemas.microsoft.com/office/drawing/2014/main" id="{F3F97DE8-AB95-2A01-C5D9-619288517F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37EC5-990B-E45B-3297-6E7D0123211D}"/>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1604540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4A4D-2182-A2DE-D0B8-05007F0D48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28D3F6-C8AD-EC1F-2203-BAE6E2FD6C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A8409-91BD-6811-ECDE-5383CAE143F7}"/>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AD669C87-2C88-CF58-2293-9E2531D817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8C73A-BC55-A0EF-C1BE-214627367B7D}"/>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622320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DC475E-8795-72AF-8D21-25BC687EA6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BF24D-3F68-DF77-E6E9-1FBE08C690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7CC06-3FD5-868B-93E1-D93CF9FFE0BD}"/>
              </a:ext>
            </a:extLst>
          </p:cNvPr>
          <p:cNvSpPr>
            <a:spLocks noGrp="1"/>
          </p:cNvSpPr>
          <p:nvPr>
            <p:ph type="dt" sz="half" idx="10"/>
          </p:nvPr>
        </p:nvSpPr>
        <p:spPr/>
        <p:txBody>
          <a:body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1ABCA52D-9E56-FC26-F66B-97A872705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75F42-FD37-59E3-DF7E-0F03193FD5C3}"/>
              </a:ext>
            </a:extLst>
          </p:cNvPr>
          <p:cNvSpPr>
            <a:spLocks noGrp="1"/>
          </p:cNvSpPr>
          <p:nvPr>
            <p:ph type="sldNum" sz="quarter" idx="12"/>
          </p:nvPr>
        </p:nvSpPr>
        <p:spPr/>
        <p:txBody>
          <a:bodyPr/>
          <a:lstStyle/>
          <a:p>
            <a:fld id="{1C97A999-24D5-4DA9-8657-D0837E6C955B}" type="slidenum">
              <a:rPr lang="en-US" smtClean="0"/>
              <a:t>‹#›</a:t>
            </a:fld>
            <a:endParaRPr lang="en-US"/>
          </a:p>
        </p:txBody>
      </p:sp>
    </p:spTree>
    <p:extLst>
      <p:ext uri="{BB962C8B-B14F-4D97-AF65-F5344CB8AC3E}">
        <p14:creationId xmlns:p14="http://schemas.microsoft.com/office/powerpoint/2010/main" val="656220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54FB18-FB47-15C8-1CBF-AD30374B3B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F5300D-E33B-D9FB-7535-1E6428A3F6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4EA307-116E-2546-DCD4-4349230574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2C2A7-D95B-4402-B895-CD51257235EB}" type="datetimeFigureOut">
              <a:rPr lang="en-US" smtClean="0"/>
              <a:t>1/29/2024</a:t>
            </a:fld>
            <a:endParaRPr lang="en-US"/>
          </a:p>
        </p:txBody>
      </p:sp>
      <p:sp>
        <p:nvSpPr>
          <p:cNvPr id="5" name="Footer Placeholder 4">
            <a:extLst>
              <a:ext uri="{FF2B5EF4-FFF2-40B4-BE49-F238E27FC236}">
                <a16:creationId xmlns:a16="http://schemas.microsoft.com/office/drawing/2014/main" id="{43860D28-50D5-68CD-E7E0-DE211D2C9C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98DCE3-D7F2-58F8-BC99-C321BBCEC1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7A999-24D5-4DA9-8657-D0837E6C955B}" type="slidenum">
              <a:rPr lang="en-US" smtClean="0"/>
              <a:t>‹#›</a:t>
            </a:fld>
            <a:endParaRPr lang="en-US"/>
          </a:p>
        </p:txBody>
      </p:sp>
    </p:spTree>
    <p:extLst>
      <p:ext uri="{BB962C8B-B14F-4D97-AF65-F5344CB8AC3E}">
        <p14:creationId xmlns:p14="http://schemas.microsoft.com/office/powerpoint/2010/main" val="1533602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495297-0DA9-D1F5-3697-36D3A50142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8800" y="508000"/>
            <a:ext cx="1350772" cy="883838"/>
          </a:xfrm>
        </p:spPr>
      </p:pic>
      <p:sp>
        <p:nvSpPr>
          <p:cNvPr id="4" name="TextBox 3">
            <a:extLst>
              <a:ext uri="{FF2B5EF4-FFF2-40B4-BE49-F238E27FC236}">
                <a16:creationId xmlns:a16="http://schemas.microsoft.com/office/drawing/2014/main" id="{87BDAA40-6A3B-5915-4FA2-91CF2DE10AC1}"/>
              </a:ext>
            </a:extLst>
          </p:cNvPr>
          <p:cNvSpPr txBox="1"/>
          <p:nvPr/>
        </p:nvSpPr>
        <p:spPr>
          <a:xfrm>
            <a:off x="1209040" y="508000"/>
            <a:ext cx="9093200" cy="1592744"/>
          </a:xfrm>
          <a:prstGeom prst="rect">
            <a:avLst/>
          </a:prstGeom>
          <a:noFill/>
        </p:spPr>
        <p:txBody>
          <a:bodyPr wrap="square" rtlCol="0">
            <a:spAutoFit/>
          </a:bodyPr>
          <a:lstStyle/>
          <a:p>
            <a:pPr marL="93345" marR="66675" algn="ctr">
              <a:spcBef>
                <a:spcPts val="305"/>
              </a:spcBef>
              <a:spcAft>
                <a:spcPts val="0"/>
              </a:spcAft>
            </a:pPr>
            <a:r>
              <a:rPr lang="en-US" sz="1800" b="1" dirty="0">
                <a:solidFill>
                  <a:srgbClr val="FF0000"/>
                </a:solidFill>
                <a:effectLst/>
                <a:latin typeface="Times New Roman" panose="02020603050405020304" pitchFamily="18" charset="0"/>
                <a:ea typeface="Times New Roman" panose="02020603050405020304" pitchFamily="18" charset="0"/>
              </a:rPr>
              <a:t>KKR</a:t>
            </a:r>
            <a:r>
              <a:rPr lang="en-US" sz="1800" b="1" spc="-10"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&amp;</a:t>
            </a:r>
            <a:r>
              <a:rPr lang="en-US" sz="1800" b="1" spc="5"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KSR</a:t>
            </a:r>
            <a:r>
              <a:rPr lang="en-US" sz="1800" b="1" spc="-30"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INSTITUTE</a:t>
            </a:r>
            <a:r>
              <a:rPr lang="en-US" sz="1800" b="1" spc="5"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OF</a:t>
            </a:r>
            <a:r>
              <a:rPr lang="en-US" sz="1800" b="1" spc="-20"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TECHNOLOGY</a:t>
            </a:r>
            <a:r>
              <a:rPr lang="en-US" sz="1800" b="1" spc="-35"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&amp;</a:t>
            </a:r>
            <a:r>
              <a:rPr lang="en-US" sz="1800" b="1" spc="10" dirty="0">
                <a:solidFill>
                  <a:srgbClr val="FF0000"/>
                </a:solidFill>
                <a:effectLst/>
                <a:latin typeface="Times New Roman" panose="02020603050405020304" pitchFamily="18" charset="0"/>
                <a:ea typeface="Times New Roman" panose="02020603050405020304" pitchFamily="18" charset="0"/>
              </a:rPr>
              <a:t> </a:t>
            </a:r>
            <a:r>
              <a:rPr lang="en-US" sz="1800" b="1" dirty="0">
                <a:solidFill>
                  <a:srgbClr val="FF0000"/>
                </a:solidFill>
                <a:effectLst/>
                <a:latin typeface="Times New Roman" panose="02020603050405020304" pitchFamily="18" charset="0"/>
                <a:ea typeface="Times New Roman" panose="02020603050405020304" pitchFamily="18" charset="0"/>
              </a:rPr>
              <a:t>SCIENCES</a:t>
            </a:r>
            <a:endParaRPr lang="en-US" sz="1800" b="1" dirty="0">
              <a:effectLst/>
              <a:latin typeface="Times New Roman" panose="02020603050405020304" pitchFamily="18" charset="0"/>
              <a:ea typeface="Times New Roman" panose="02020603050405020304" pitchFamily="18" charset="0"/>
            </a:endParaRPr>
          </a:p>
          <a:p>
            <a:pPr marL="93345" marR="78105" algn="ctr">
              <a:spcBef>
                <a:spcPts val="945"/>
              </a:spcBef>
              <a:spcAft>
                <a:spcPts val="0"/>
              </a:spcAft>
            </a:pPr>
            <a:r>
              <a:rPr lang="en-US" sz="1800" dirty="0">
                <a:effectLst/>
                <a:latin typeface="Times New Roman" panose="02020603050405020304" pitchFamily="18" charset="0"/>
                <a:ea typeface="Times New Roman" panose="02020603050405020304" pitchFamily="18" charset="0"/>
              </a:rPr>
              <a:t>(Approved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AICTE,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Delhi</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Permanently</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Affiliated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JNTUK,</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Kakinada</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Accredited with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grade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NAAC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NBA)</a:t>
            </a:r>
          </a:p>
          <a:p>
            <a:pPr marL="0" marR="0" indent="0">
              <a:spcBef>
                <a:spcPts val="40"/>
              </a:spcBef>
              <a:spcAft>
                <a:spcPts val="0"/>
              </a:spcAft>
            </a:pPr>
            <a:r>
              <a:rPr lang="en-US" sz="1800" dirty="0">
                <a:effectLst/>
                <a:latin typeface="Times New Roman" panose="02020603050405020304" pitchFamily="18" charset="0"/>
                <a:ea typeface="Times New Roman" panose="02020603050405020304" pitchFamily="18" charset="0"/>
              </a:rPr>
              <a:t> </a:t>
            </a:r>
          </a:p>
          <a:p>
            <a:pPr algn="ctr"/>
            <a:r>
              <a:rPr lang="en-US" sz="1800" b="1" dirty="0">
                <a:solidFill>
                  <a:srgbClr val="001F5F"/>
                </a:solidFill>
                <a:effectLst/>
                <a:latin typeface="Times New Roman" panose="02020603050405020304" pitchFamily="18" charset="0"/>
                <a:ea typeface="Times New Roman" panose="02020603050405020304" pitchFamily="18" charset="0"/>
              </a:rPr>
              <a:t>Department</a:t>
            </a:r>
            <a:r>
              <a:rPr lang="en-US" sz="1800" b="1" spc="-15" dirty="0">
                <a:solidFill>
                  <a:srgbClr val="001F5F"/>
                </a:solidFill>
                <a:effectLst/>
                <a:latin typeface="Times New Roman" panose="02020603050405020304" pitchFamily="18" charset="0"/>
                <a:ea typeface="Times New Roman" panose="02020603050405020304" pitchFamily="18" charset="0"/>
              </a:rPr>
              <a:t> </a:t>
            </a:r>
            <a:r>
              <a:rPr lang="en-US" sz="1800" b="1" dirty="0">
                <a:solidFill>
                  <a:srgbClr val="001F5F"/>
                </a:solidFill>
                <a:effectLst/>
                <a:latin typeface="Times New Roman" panose="02020603050405020304" pitchFamily="18" charset="0"/>
                <a:ea typeface="Times New Roman" panose="02020603050405020304" pitchFamily="18" charset="0"/>
              </a:rPr>
              <a:t>of</a:t>
            </a:r>
            <a:r>
              <a:rPr lang="en-US" sz="1800" b="1" spc="-20" dirty="0">
                <a:solidFill>
                  <a:srgbClr val="001F5F"/>
                </a:solidFill>
                <a:effectLst/>
                <a:latin typeface="Times New Roman" panose="02020603050405020304" pitchFamily="18" charset="0"/>
                <a:ea typeface="Times New Roman" panose="02020603050405020304" pitchFamily="18" charset="0"/>
              </a:rPr>
              <a:t> </a:t>
            </a:r>
            <a:r>
              <a:rPr lang="en-US" sz="1800" b="1" dirty="0">
                <a:solidFill>
                  <a:srgbClr val="001F5F"/>
                </a:solidFill>
                <a:effectLst/>
                <a:latin typeface="Times New Roman" panose="02020603050405020304" pitchFamily="18" charset="0"/>
                <a:ea typeface="Times New Roman" panose="02020603050405020304" pitchFamily="18" charset="0"/>
              </a:rPr>
              <a:t>Computer</a:t>
            </a:r>
            <a:r>
              <a:rPr lang="en-US" sz="1800" b="1" spc="-30" dirty="0">
                <a:solidFill>
                  <a:srgbClr val="001F5F"/>
                </a:solidFill>
                <a:effectLst/>
                <a:latin typeface="Times New Roman" panose="02020603050405020304" pitchFamily="18" charset="0"/>
                <a:ea typeface="Times New Roman" panose="02020603050405020304" pitchFamily="18" charset="0"/>
              </a:rPr>
              <a:t> </a:t>
            </a:r>
            <a:r>
              <a:rPr lang="en-US" sz="1800" b="1" dirty="0">
                <a:solidFill>
                  <a:srgbClr val="001F5F"/>
                </a:solidFill>
                <a:effectLst/>
                <a:latin typeface="Times New Roman" panose="02020603050405020304" pitchFamily="18" charset="0"/>
                <a:ea typeface="Times New Roman" panose="02020603050405020304" pitchFamily="18" charset="0"/>
              </a:rPr>
              <a:t>Science</a:t>
            </a:r>
            <a:r>
              <a:rPr lang="en-US" sz="1800" b="1" spc="-25" dirty="0">
                <a:solidFill>
                  <a:srgbClr val="001F5F"/>
                </a:solidFill>
                <a:effectLst/>
                <a:latin typeface="Times New Roman" panose="02020603050405020304" pitchFamily="18" charset="0"/>
                <a:ea typeface="Times New Roman" panose="02020603050405020304" pitchFamily="18" charset="0"/>
              </a:rPr>
              <a:t> </a:t>
            </a:r>
            <a:r>
              <a:rPr lang="en-US" sz="1800" b="1" dirty="0">
                <a:solidFill>
                  <a:srgbClr val="001F5F"/>
                </a:solidFill>
                <a:effectLst/>
                <a:latin typeface="Times New Roman" panose="02020603050405020304" pitchFamily="18" charset="0"/>
                <a:ea typeface="Times New Roman" panose="02020603050405020304" pitchFamily="18" charset="0"/>
              </a:rPr>
              <a:t>and</a:t>
            </a:r>
            <a:r>
              <a:rPr lang="en-US" sz="1800" b="1" spc="-40" dirty="0">
                <a:solidFill>
                  <a:srgbClr val="001F5F"/>
                </a:solidFill>
                <a:effectLst/>
                <a:latin typeface="Times New Roman" panose="02020603050405020304" pitchFamily="18" charset="0"/>
                <a:ea typeface="Times New Roman" panose="02020603050405020304" pitchFamily="18" charset="0"/>
              </a:rPr>
              <a:t> </a:t>
            </a:r>
            <a:r>
              <a:rPr lang="en-US" sz="1800" b="1" dirty="0">
                <a:solidFill>
                  <a:srgbClr val="001F5F"/>
                </a:solidFill>
                <a:effectLst/>
                <a:latin typeface="Times New Roman" panose="02020603050405020304" pitchFamily="18" charset="0"/>
                <a:ea typeface="Times New Roman" panose="02020603050405020304" pitchFamily="18" charset="0"/>
              </a:rPr>
              <a:t>Engineering</a:t>
            </a:r>
            <a:endParaRPr lang="en-US" dirty="0"/>
          </a:p>
        </p:txBody>
      </p:sp>
      <p:sp>
        <p:nvSpPr>
          <p:cNvPr id="7" name="TextBox 6">
            <a:extLst>
              <a:ext uri="{FF2B5EF4-FFF2-40B4-BE49-F238E27FC236}">
                <a16:creationId xmlns:a16="http://schemas.microsoft.com/office/drawing/2014/main" id="{52E21BEB-FB1D-D945-01A9-542679183A26}"/>
              </a:ext>
            </a:extLst>
          </p:cNvPr>
          <p:cNvSpPr txBox="1"/>
          <p:nvPr/>
        </p:nvSpPr>
        <p:spPr>
          <a:xfrm>
            <a:off x="1615440" y="3545840"/>
            <a:ext cx="8961120" cy="1600438"/>
          </a:xfrm>
          <a:prstGeom prst="rect">
            <a:avLst/>
          </a:prstGeom>
          <a:noFill/>
        </p:spPr>
        <p:txBody>
          <a:bodyPr wrap="square" rtlCol="0">
            <a:spAutoFit/>
          </a:bodyPr>
          <a:lstStyle/>
          <a:p>
            <a:pPr algn="ctr"/>
            <a:r>
              <a:rPr lang="en-US" sz="6600" b="1" dirty="0">
                <a:latin typeface="Aptos" panose="020B0004020202020204" pitchFamily="34" charset="0"/>
              </a:rPr>
              <a:t>Title     -      </a:t>
            </a:r>
            <a:r>
              <a:rPr lang="en-US" sz="6600" b="1" dirty="0">
                <a:solidFill>
                  <a:schemeClr val="accent2"/>
                </a:solidFill>
                <a:latin typeface="Aptos" panose="020B0004020202020204" pitchFamily="34" charset="0"/>
              </a:rPr>
              <a:t>Snap Classy</a:t>
            </a:r>
          </a:p>
          <a:p>
            <a:pPr algn="ctr"/>
            <a:r>
              <a:rPr lang="en-US" sz="3200" dirty="0">
                <a:latin typeface="Aptos" panose="020B0004020202020204" pitchFamily="34" charset="0"/>
              </a:rPr>
              <a:t>		-an AI image Classifier</a:t>
            </a:r>
          </a:p>
        </p:txBody>
      </p:sp>
    </p:spTree>
    <p:extLst>
      <p:ext uri="{BB962C8B-B14F-4D97-AF65-F5344CB8AC3E}">
        <p14:creationId xmlns:p14="http://schemas.microsoft.com/office/powerpoint/2010/main" val="1926331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4D91-6427-B56F-E37B-56022A085E3D}"/>
              </a:ext>
            </a:extLst>
          </p:cNvPr>
          <p:cNvSpPr>
            <a:spLocks noGrp="1"/>
          </p:cNvSpPr>
          <p:nvPr>
            <p:ph type="ctrTitle"/>
          </p:nvPr>
        </p:nvSpPr>
        <p:spPr>
          <a:xfrm>
            <a:off x="1524000" y="111761"/>
            <a:ext cx="9144000" cy="1777999"/>
          </a:xfrm>
        </p:spPr>
        <p:txBody>
          <a:bodyPr/>
          <a:lstStyle/>
          <a:p>
            <a:pPr algn="l"/>
            <a:r>
              <a:rPr lang="en-US" dirty="0">
                <a:latin typeface="Aptos Display" panose="020B0004020202020204" pitchFamily="34" charset="0"/>
              </a:rPr>
              <a:t>Title       -     </a:t>
            </a:r>
            <a:r>
              <a:rPr lang="en-US" b="1" dirty="0">
                <a:solidFill>
                  <a:schemeClr val="accent1">
                    <a:lumMod val="75000"/>
                  </a:schemeClr>
                </a:solidFill>
                <a:latin typeface="Aptos Display" panose="020B0004020202020204" pitchFamily="34" charset="0"/>
              </a:rPr>
              <a:t>Snap Classy </a:t>
            </a:r>
          </a:p>
        </p:txBody>
      </p:sp>
      <p:sp>
        <p:nvSpPr>
          <p:cNvPr id="3" name="Subtitle 2">
            <a:extLst>
              <a:ext uri="{FF2B5EF4-FFF2-40B4-BE49-F238E27FC236}">
                <a16:creationId xmlns:a16="http://schemas.microsoft.com/office/drawing/2014/main" id="{F9D13E3C-B9D1-6FB5-7526-34C7BCB074AD}"/>
              </a:ext>
            </a:extLst>
          </p:cNvPr>
          <p:cNvSpPr>
            <a:spLocks noGrp="1"/>
          </p:cNvSpPr>
          <p:nvPr>
            <p:ph type="subTitle" idx="1"/>
          </p:nvPr>
        </p:nvSpPr>
        <p:spPr>
          <a:xfrm>
            <a:off x="1524000" y="1889759"/>
            <a:ext cx="9144000" cy="4734561"/>
          </a:xfrm>
        </p:spPr>
        <p:txBody>
          <a:bodyPr>
            <a:normAutofit/>
          </a:bodyPr>
          <a:lstStyle/>
          <a:p>
            <a:r>
              <a:rPr lang="en-US" dirty="0"/>
              <a:t>					- An  ai image classifier</a:t>
            </a:r>
          </a:p>
          <a:p>
            <a:endParaRPr lang="en-US" dirty="0"/>
          </a:p>
          <a:p>
            <a:r>
              <a:rPr lang="en-US" dirty="0"/>
              <a:t>By:</a:t>
            </a:r>
          </a:p>
          <a:p>
            <a:endParaRPr lang="en-US" dirty="0"/>
          </a:p>
          <a:p>
            <a:r>
              <a:rPr lang="en-US" dirty="0"/>
              <a:t>Pavan Narendra </a:t>
            </a:r>
            <a:r>
              <a:rPr lang="en-US" dirty="0" err="1"/>
              <a:t>Peela</a:t>
            </a:r>
            <a:r>
              <a:rPr lang="en-US" dirty="0"/>
              <a:t> (20JR1A05G5)</a:t>
            </a:r>
          </a:p>
          <a:p>
            <a:r>
              <a:rPr lang="en-US" dirty="0"/>
              <a:t>Pandey Bhargav Santhosh (20JR1AO5G1)</a:t>
            </a:r>
          </a:p>
          <a:p>
            <a:r>
              <a:rPr lang="en-US" dirty="0" err="1"/>
              <a:t>Sindhe</a:t>
            </a:r>
            <a:r>
              <a:rPr lang="en-US" dirty="0"/>
              <a:t> Vinay Kumar (20JR1A05H9)</a:t>
            </a:r>
          </a:p>
          <a:p>
            <a:r>
              <a:rPr lang="en-US" dirty="0" err="1"/>
              <a:t>Yepuri</a:t>
            </a:r>
            <a:r>
              <a:rPr lang="en-US" dirty="0"/>
              <a:t> Charan Siva Sai (20JR1A05J2)</a:t>
            </a:r>
          </a:p>
          <a:p>
            <a:endParaRPr lang="en-US" dirty="0"/>
          </a:p>
          <a:p>
            <a:r>
              <a:rPr lang="en-US" dirty="0"/>
              <a:t>			Under the guidance of </a:t>
            </a:r>
            <a:r>
              <a:rPr lang="en-US" dirty="0" err="1"/>
              <a:t>Mr.A.Siva</a:t>
            </a:r>
            <a:r>
              <a:rPr lang="en-US" dirty="0"/>
              <a:t> Sankar sir.</a:t>
            </a:r>
          </a:p>
        </p:txBody>
      </p:sp>
    </p:spTree>
    <p:extLst>
      <p:ext uri="{BB962C8B-B14F-4D97-AF65-F5344CB8AC3E}">
        <p14:creationId xmlns:p14="http://schemas.microsoft.com/office/powerpoint/2010/main" val="1968921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8B10-E462-C4B9-FCFD-715C04B49236}"/>
              </a:ext>
            </a:extLst>
          </p:cNvPr>
          <p:cNvSpPr>
            <a:spLocks noGrp="1"/>
          </p:cNvSpPr>
          <p:nvPr>
            <p:ph type="title"/>
          </p:nvPr>
        </p:nvSpPr>
        <p:spPr/>
        <p:txBody>
          <a:bodyPr/>
          <a:lstStyle/>
          <a:p>
            <a:pPr algn="ctr"/>
            <a:r>
              <a:rPr lang="en-US" dirty="0"/>
              <a:t>Abstract</a:t>
            </a:r>
          </a:p>
        </p:txBody>
      </p:sp>
      <p:sp>
        <p:nvSpPr>
          <p:cNvPr id="3" name="Content Placeholder 2">
            <a:extLst>
              <a:ext uri="{FF2B5EF4-FFF2-40B4-BE49-F238E27FC236}">
                <a16:creationId xmlns:a16="http://schemas.microsoft.com/office/drawing/2014/main" id="{94D510CE-AC3C-526B-C16E-30719B0BCDFE}"/>
              </a:ext>
            </a:extLst>
          </p:cNvPr>
          <p:cNvSpPr>
            <a:spLocks noGrp="1"/>
          </p:cNvSpPr>
          <p:nvPr>
            <p:ph idx="1"/>
          </p:nvPr>
        </p:nvSpPr>
        <p:spPr/>
        <p:txBody>
          <a:bodyPr>
            <a:noAutofit/>
          </a:bodyPr>
          <a:lstStyle/>
          <a:p>
            <a:r>
              <a:rPr lang="en-US" dirty="0"/>
              <a:t>Object Classification is a principle task in image processing. </a:t>
            </a:r>
          </a:p>
          <a:p>
            <a:r>
              <a:rPr lang="en-US" dirty="0"/>
              <a:t>It is exercised over a multitude of applications ranging from test and number classification to traffic surveillance.</a:t>
            </a:r>
          </a:p>
          <a:p>
            <a:r>
              <a:rPr lang="en-US" dirty="0"/>
              <a:t>The primitive machine learning concepts had provided the pedestal for carrying out umber of image processing tasks.</a:t>
            </a:r>
          </a:p>
          <a:p>
            <a:r>
              <a:rPr lang="en-US" dirty="0"/>
              <a:t> Nowadays requirement of detection algorithm is to work end to end and take less time to compute.</a:t>
            </a:r>
          </a:p>
          <a:p>
            <a:r>
              <a:rPr lang="en-US" dirty="0"/>
              <a:t>Real-time detection and classification of objects from video provide the foundation for generating many kinds of analytical aspects such as the amount of traffic in a particular area over the years or the total </a:t>
            </a:r>
            <a:r>
              <a:rPr lang="en-US" dirty="0" err="1"/>
              <a:t>populationn</a:t>
            </a:r>
            <a:r>
              <a:rPr lang="en-US" dirty="0"/>
              <a:t> in an area.</a:t>
            </a:r>
          </a:p>
        </p:txBody>
      </p:sp>
    </p:spTree>
    <p:extLst>
      <p:ext uri="{BB962C8B-B14F-4D97-AF65-F5344CB8AC3E}">
        <p14:creationId xmlns:p14="http://schemas.microsoft.com/office/powerpoint/2010/main" val="2266242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7CDFD6-0246-DE45-3A39-291F20595B1C}"/>
              </a:ext>
            </a:extLst>
          </p:cNvPr>
          <p:cNvSpPr>
            <a:spLocks noGrp="1"/>
          </p:cNvSpPr>
          <p:nvPr>
            <p:ph type="title"/>
          </p:nvPr>
        </p:nvSpPr>
        <p:spPr/>
        <p:txBody>
          <a:bodyPr/>
          <a:lstStyle/>
          <a:p>
            <a:pPr algn="ctr"/>
            <a:r>
              <a:rPr lang="en-US" dirty="0"/>
              <a:t>Abstract</a:t>
            </a:r>
          </a:p>
        </p:txBody>
      </p:sp>
      <p:sp>
        <p:nvSpPr>
          <p:cNvPr id="3" name="Content Placeholder 2">
            <a:extLst>
              <a:ext uri="{FF2B5EF4-FFF2-40B4-BE49-F238E27FC236}">
                <a16:creationId xmlns:a16="http://schemas.microsoft.com/office/drawing/2014/main" id="{C15E5E82-64CE-32BA-2EAE-AB8BDD29FAE0}"/>
              </a:ext>
            </a:extLst>
          </p:cNvPr>
          <p:cNvSpPr>
            <a:spLocks noGrp="1"/>
          </p:cNvSpPr>
          <p:nvPr>
            <p:ph idx="1"/>
          </p:nvPr>
        </p:nvSpPr>
        <p:spPr>
          <a:xfrm>
            <a:off x="838200" y="1825625"/>
            <a:ext cx="10515600" cy="4351338"/>
          </a:xfrm>
        </p:spPr>
        <p:txBody>
          <a:bodyPr/>
          <a:lstStyle/>
          <a:p>
            <a:r>
              <a:rPr lang="en-US" dirty="0"/>
              <a:t>In practice, the task usually encounters slow processing of classification and detection or the occurrence of erroneous detection due to the incorporation of small and lightweight datasets.</a:t>
            </a:r>
          </a:p>
          <a:p>
            <a:r>
              <a:rPr lang="en-US" dirty="0"/>
              <a:t>To overcome these issues, YOLO (You Only Look Once) based detection and classification approach (YOLOv8) for improving the computation and processing speed and at the same time efficiently identify the objects in the image.</a:t>
            </a:r>
          </a:p>
          <a:p>
            <a:r>
              <a:rPr lang="en-US" dirty="0"/>
              <a:t>Classifier such as </a:t>
            </a:r>
            <a:r>
              <a:rPr lang="en-US" dirty="0" err="1"/>
              <a:t>Haar</a:t>
            </a:r>
            <a:r>
              <a:rPr lang="en-US" dirty="0"/>
              <a:t> cascade which uses </a:t>
            </a:r>
            <a:r>
              <a:rPr lang="en-US" dirty="0" err="1"/>
              <a:t>Haar</a:t>
            </a:r>
            <a:r>
              <a:rPr lang="en-US" dirty="0"/>
              <a:t> like features was primitively used for face detection.</a:t>
            </a:r>
          </a:p>
        </p:txBody>
      </p:sp>
    </p:spTree>
    <p:extLst>
      <p:ext uri="{BB962C8B-B14F-4D97-AF65-F5344CB8AC3E}">
        <p14:creationId xmlns:p14="http://schemas.microsoft.com/office/powerpoint/2010/main" val="225202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1022-09A1-528A-0877-5B0E90A0E6DF}"/>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9CF90BCC-1652-EBD3-130E-6D13BAB5B1C0}"/>
              </a:ext>
            </a:extLst>
          </p:cNvPr>
          <p:cNvSpPr>
            <a:spLocks noGrp="1"/>
          </p:cNvSpPr>
          <p:nvPr>
            <p:ph idx="1"/>
          </p:nvPr>
        </p:nvSpPr>
        <p:spPr/>
        <p:txBody>
          <a:bodyPr>
            <a:normAutofit lnSpcReduction="10000"/>
          </a:bodyPr>
          <a:lstStyle/>
          <a:p>
            <a:r>
              <a:rPr lang="en-US" dirty="0"/>
              <a:t>Humans look at an image and instantly process the objects in it and determine their locations due to the interlinked neurons of the brain.</a:t>
            </a:r>
          </a:p>
          <a:p>
            <a:r>
              <a:rPr lang="en-US" dirty="0"/>
              <a:t> The human brain is very accurate in performing complex tasks such as identifying objects of similar attributes, in a very small amount of time.</a:t>
            </a:r>
          </a:p>
          <a:p>
            <a:r>
              <a:rPr lang="en-US" dirty="0"/>
              <a:t>These applications include pedestrian detection, vehicle counting, motion tracking, cancer cell detection and many more. </a:t>
            </a:r>
          </a:p>
          <a:p>
            <a:r>
              <a:rPr lang="en-US" dirty="0"/>
              <a:t>For a human visual system, the perception of visual information is with apparent ease. In artificial intelligence, we face a huge amount of visual information and few useful techniques to process, understand and classify them. </a:t>
            </a:r>
          </a:p>
        </p:txBody>
      </p:sp>
    </p:spTree>
    <p:extLst>
      <p:ext uri="{BB962C8B-B14F-4D97-AF65-F5344CB8AC3E}">
        <p14:creationId xmlns:p14="http://schemas.microsoft.com/office/powerpoint/2010/main" val="1088861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5C451E-6D6E-B85F-9DCE-DC994780FF23}"/>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6E4277EA-C157-304D-65C6-AA28E4813783}"/>
              </a:ext>
            </a:extLst>
          </p:cNvPr>
          <p:cNvSpPr>
            <a:spLocks noGrp="1"/>
          </p:cNvSpPr>
          <p:nvPr>
            <p:ph idx="1"/>
          </p:nvPr>
        </p:nvSpPr>
        <p:spPr>
          <a:xfrm>
            <a:off x="838200" y="1825625"/>
            <a:ext cx="10515600" cy="4351338"/>
          </a:xfrm>
        </p:spPr>
        <p:txBody>
          <a:bodyPr>
            <a:normAutofit/>
          </a:bodyPr>
          <a:lstStyle/>
          <a:p>
            <a:r>
              <a:rPr lang="en-US" dirty="0"/>
              <a:t>The object detection approaches have progressed from sliding window-based methods to single shot detection frameworks.</a:t>
            </a:r>
          </a:p>
          <a:p>
            <a:r>
              <a:rPr lang="en-US" dirty="0"/>
              <a:t>The Convolutional Neural Network (CNN), in particular, has numerous applications such as facial recognition, as it achieved a large decrease in error rate but at the expense of speed and computation time.</a:t>
            </a:r>
          </a:p>
          <a:p>
            <a:r>
              <a:rPr lang="en-US" dirty="0"/>
              <a:t> The Region based Convolutional Network (R-CNN) uses the process of Selective Search process in order to detect the objects. </a:t>
            </a:r>
          </a:p>
          <a:p>
            <a:r>
              <a:rPr lang="en-US" dirty="0"/>
              <a:t>The descendent of R-CNN, Fast R-CNN and, Faster R-CNN fixed the slow nature of CNN and R-CNN by making the training process end-to-end. </a:t>
            </a:r>
          </a:p>
        </p:txBody>
      </p:sp>
    </p:spTree>
    <p:extLst>
      <p:ext uri="{BB962C8B-B14F-4D97-AF65-F5344CB8AC3E}">
        <p14:creationId xmlns:p14="http://schemas.microsoft.com/office/powerpoint/2010/main" val="320746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AA8C-6ED4-74FE-9646-19273B9E4AE5}"/>
              </a:ext>
            </a:extLst>
          </p:cNvPr>
          <p:cNvSpPr>
            <a:spLocks noGrp="1"/>
          </p:cNvSpPr>
          <p:nvPr>
            <p:ph type="title"/>
          </p:nvPr>
        </p:nvSpPr>
        <p:spPr/>
        <p:txBody>
          <a:bodyPr/>
          <a:lstStyle/>
          <a:p>
            <a:pPr algn="ctr"/>
            <a:r>
              <a:rPr lang="en-US" dirty="0"/>
              <a:t>Literature Review</a:t>
            </a:r>
          </a:p>
        </p:txBody>
      </p:sp>
      <p:sp>
        <p:nvSpPr>
          <p:cNvPr id="3" name="Content Placeholder 2">
            <a:extLst>
              <a:ext uri="{FF2B5EF4-FFF2-40B4-BE49-F238E27FC236}">
                <a16:creationId xmlns:a16="http://schemas.microsoft.com/office/drawing/2014/main" id="{4379C4E6-5366-6421-05E8-BAD0C5813E7C}"/>
              </a:ext>
            </a:extLst>
          </p:cNvPr>
          <p:cNvSpPr>
            <a:spLocks noGrp="1"/>
          </p:cNvSpPr>
          <p:nvPr>
            <p:ph idx="1"/>
          </p:nvPr>
        </p:nvSpPr>
        <p:spPr/>
        <p:txBody>
          <a:bodyPr/>
          <a:lstStyle/>
          <a:p>
            <a:r>
              <a:rPr lang="en-US" dirty="0"/>
              <a:t>Classification and detection of objects have been the state-of-art approach for many areas in computer vision. In the domain of image surveillance classification of objects have been a major breakthrough.</a:t>
            </a:r>
          </a:p>
          <a:p>
            <a:r>
              <a:rPr lang="en-US" dirty="0"/>
              <a:t>Furthermore, YOLOv2 can detect objects in an image with less accuracy causing background errors 	. YOLO9000 is a real-time framework, which is able to optimize detection and classification and bridge the gap between them.</a:t>
            </a:r>
          </a:p>
          <a:p>
            <a:r>
              <a:rPr lang="en-US" dirty="0"/>
              <a:t>The frames per second obtained is observed and it depend on the input size. It varied between 0.2 fps to 0.5 fps during the processing of the algorithm</a:t>
            </a:r>
          </a:p>
        </p:txBody>
      </p:sp>
    </p:spTree>
    <p:extLst>
      <p:ext uri="{BB962C8B-B14F-4D97-AF65-F5344CB8AC3E}">
        <p14:creationId xmlns:p14="http://schemas.microsoft.com/office/powerpoint/2010/main" val="3589067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E7D1-28A0-DE91-CA2C-864380D9D4F2}"/>
              </a:ext>
            </a:extLst>
          </p:cNvPr>
          <p:cNvSpPr>
            <a:spLocks noGrp="1"/>
          </p:cNvSpPr>
          <p:nvPr>
            <p:ph type="title"/>
          </p:nvPr>
        </p:nvSpPr>
        <p:spPr/>
        <p:txBody>
          <a:bodyPr/>
          <a:lstStyle/>
          <a:p>
            <a:pPr algn="ctr"/>
            <a:r>
              <a:rPr lang="en-US" dirty="0"/>
              <a:t>Problem Identification</a:t>
            </a:r>
          </a:p>
        </p:txBody>
      </p:sp>
      <p:sp>
        <p:nvSpPr>
          <p:cNvPr id="3" name="Content Placeholder 2">
            <a:extLst>
              <a:ext uri="{FF2B5EF4-FFF2-40B4-BE49-F238E27FC236}">
                <a16:creationId xmlns:a16="http://schemas.microsoft.com/office/drawing/2014/main" id="{3302C63E-A194-33E7-AE1F-C3971A073BC5}"/>
              </a:ext>
            </a:extLst>
          </p:cNvPr>
          <p:cNvSpPr>
            <a:spLocks noGrp="1"/>
          </p:cNvSpPr>
          <p:nvPr>
            <p:ph idx="1"/>
          </p:nvPr>
        </p:nvSpPr>
        <p:spPr/>
        <p:txBody>
          <a:bodyPr/>
          <a:lstStyle/>
          <a:p>
            <a:r>
              <a:rPr lang="en-US" b="0" i="0" dirty="0">
                <a:effectLst/>
                <a:latin typeface="Google Sans"/>
              </a:rPr>
              <a:t>This is the most fundamental application, where the model identifies and locates specific objects within an image. Examples include self-driving cars recognizing traffic signs and pedestrians, or security systems detecting suspicious activity in surveillance footage.</a:t>
            </a:r>
          </a:p>
          <a:p>
            <a:r>
              <a:rPr lang="en-US" b="0" i="0" dirty="0">
                <a:effectLst/>
                <a:latin typeface="Google Sans"/>
              </a:rPr>
              <a:t>Assisting medical professionals in analyzing X-rays, MRIs, and other medical scans by automatically detecting and classifying abnormalities like tumors or fractures. This can expedite diagnosis and treatment planning.</a:t>
            </a:r>
          </a:p>
          <a:p>
            <a:endParaRPr lang="en-US" dirty="0"/>
          </a:p>
        </p:txBody>
      </p:sp>
    </p:spTree>
    <p:extLst>
      <p:ext uri="{BB962C8B-B14F-4D97-AF65-F5344CB8AC3E}">
        <p14:creationId xmlns:p14="http://schemas.microsoft.com/office/powerpoint/2010/main" val="331574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28E1-18F7-6DBE-9CB4-28D71677CBBB}"/>
              </a:ext>
            </a:extLst>
          </p:cNvPr>
          <p:cNvSpPr>
            <a:spLocks noGrp="1"/>
          </p:cNvSpPr>
          <p:nvPr>
            <p:ph type="title"/>
          </p:nvPr>
        </p:nvSpPr>
        <p:spPr/>
        <p:txBody>
          <a:bodyPr/>
          <a:lstStyle/>
          <a:p>
            <a:pPr algn="ctr"/>
            <a:r>
              <a:rPr lang="en-US" dirty="0"/>
              <a:t>Problem Identification</a:t>
            </a:r>
          </a:p>
        </p:txBody>
      </p:sp>
      <p:sp>
        <p:nvSpPr>
          <p:cNvPr id="3" name="Content Placeholder 2">
            <a:extLst>
              <a:ext uri="{FF2B5EF4-FFF2-40B4-BE49-F238E27FC236}">
                <a16:creationId xmlns:a16="http://schemas.microsoft.com/office/drawing/2014/main" id="{5CA4FE99-D8A9-8D71-0E49-DEF85E0AB919}"/>
              </a:ext>
            </a:extLst>
          </p:cNvPr>
          <p:cNvSpPr>
            <a:spLocks noGrp="1"/>
          </p:cNvSpPr>
          <p:nvPr>
            <p:ph idx="1"/>
          </p:nvPr>
        </p:nvSpPr>
        <p:spPr/>
        <p:txBody>
          <a:bodyPr/>
          <a:lstStyle/>
          <a:p>
            <a:r>
              <a:rPr lang="en-US" b="0" i="0" dirty="0">
                <a:effectLst/>
                <a:latin typeface="Google Sans"/>
              </a:rPr>
              <a:t>Identifying and flagging inappropriate content on social media platforms or websites, such as violence, hate speech, or pornography. This helps maintain a safe and ethical online environment.</a:t>
            </a:r>
          </a:p>
          <a:p>
            <a:r>
              <a:rPr lang="en-US" b="0" i="0" dirty="0">
                <a:effectLst/>
                <a:latin typeface="Google Sans"/>
              </a:rPr>
              <a:t>Ensuring quality control in manufacturing by automatically detecting defects in products on assembly lines. This improves efficiency and reduces costs associated with manual inspection.</a:t>
            </a:r>
          </a:p>
          <a:p>
            <a:r>
              <a:rPr lang="en-US" b="0" i="0" dirty="0">
                <a:effectLst/>
                <a:latin typeface="Google Sans"/>
              </a:rPr>
              <a:t>Recognizing traffic signs, pedestrians, other vehicles, and obstacles on the road is crucial for the safe navigation of autonomous vehicles. Image classification plays a vital role in achieving this.</a:t>
            </a:r>
            <a:endParaRPr lang="en-US" dirty="0"/>
          </a:p>
        </p:txBody>
      </p:sp>
    </p:spTree>
    <p:extLst>
      <p:ext uri="{BB962C8B-B14F-4D97-AF65-F5344CB8AC3E}">
        <p14:creationId xmlns:p14="http://schemas.microsoft.com/office/powerpoint/2010/main" val="92402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58C0B-A979-1BB2-E4F3-72157429B70B}"/>
              </a:ext>
            </a:extLst>
          </p:cNvPr>
          <p:cNvSpPr>
            <a:spLocks noGrp="1"/>
          </p:cNvSpPr>
          <p:nvPr>
            <p:ph type="title"/>
          </p:nvPr>
        </p:nvSpPr>
        <p:spPr/>
        <p:txBody>
          <a:bodyPr/>
          <a:lstStyle/>
          <a:p>
            <a:pPr algn="ctr"/>
            <a:r>
              <a:rPr lang="en-US" dirty="0"/>
              <a:t>Proposed System</a:t>
            </a:r>
          </a:p>
        </p:txBody>
      </p:sp>
      <p:sp>
        <p:nvSpPr>
          <p:cNvPr id="3" name="Content Placeholder 2">
            <a:extLst>
              <a:ext uri="{FF2B5EF4-FFF2-40B4-BE49-F238E27FC236}">
                <a16:creationId xmlns:a16="http://schemas.microsoft.com/office/drawing/2014/main" id="{4FA27A84-077E-F7CA-3EB5-D1BAE9DFB867}"/>
              </a:ext>
            </a:extLst>
          </p:cNvPr>
          <p:cNvSpPr>
            <a:spLocks noGrp="1"/>
          </p:cNvSpPr>
          <p:nvPr>
            <p:ph idx="1"/>
          </p:nvPr>
        </p:nvSpPr>
        <p:spPr>
          <a:xfrm>
            <a:off x="838200" y="1835785"/>
            <a:ext cx="10515600" cy="4351338"/>
          </a:xfrm>
        </p:spPr>
        <p:txBody>
          <a:bodyPr/>
          <a:lstStyle/>
          <a:p>
            <a:r>
              <a:rPr lang="en-US" dirty="0"/>
              <a:t>We develop this program using google </a:t>
            </a:r>
            <a:r>
              <a:rPr lang="en-US" dirty="0" err="1"/>
              <a:t>colab</a:t>
            </a:r>
            <a:r>
              <a:rPr lang="en-US" dirty="0"/>
              <a:t> or Kaggle with T4 GPU as hardware to develop this without any damages to the system hardware.</a:t>
            </a:r>
          </a:p>
          <a:p>
            <a:r>
              <a:rPr lang="en-US" dirty="0"/>
              <a:t>We create a new data set which consists of 100 images for each category do train our model.</a:t>
            </a:r>
          </a:p>
          <a:p>
            <a:r>
              <a:rPr lang="en-US" dirty="0"/>
              <a:t>As the existing system is outdated we use latest version of YOLO (YOLOv8) to train our model to classify images.</a:t>
            </a:r>
          </a:p>
          <a:p>
            <a:r>
              <a:rPr lang="en-US" dirty="0"/>
              <a:t>We label the objects in the images before creating the dataset so that we can train our model effectively.</a:t>
            </a:r>
          </a:p>
        </p:txBody>
      </p:sp>
    </p:spTree>
    <p:extLst>
      <p:ext uri="{BB962C8B-B14F-4D97-AF65-F5344CB8AC3E}">
        <p14:creationId xmlns:p14="http://schemas.microsoft.com/office/powerpoint/2010/main" val="2213546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CF7B9-E980-BF55-56AE-A600A1B7252C}"/>
              </a:ext>
            </a:extLst>
          </p:cNvPr>
          <p:cNvSpPr>
            <a:spLocks noGrp="1"/>
          </p:cNvSpPr>
          <p:nvPr>
            <p:ph type="title"/>
          </p:nvPr>
        </p:nvSpPr>
        <p:spPr/>
        <p:txBody>
          <a:bodyPr/>
          <a:lstStyle/>
          <a:p>
            <a:pPr algn="ctr"/>
            <a:r>
              <a:rPr lang="en-US" dirty="0"/>
              <a:t>Proposed system</a:t>
            </a:r>
          </a:p>
        </p:txBody>
      </p:sp>
      <p:sp>
        <p:nvSpPr>
          <p:cNvPr id="3" name="Content Placeholder 2">
            <a:extLst>
              <a:ext uri="{FF2B5EF4-FFF2-40B4-BE49-F238E27FC236}">
                <a16:creationId xmlns:a16="http://schemas.microsoft.com/office/drawing/2014/main" id="{E6420745-1411-DC65-3595-C50E0E50B94C}"/>
              </a:ext>
            </a:extLst>
          </p:cNvPr>
          <p:cNvSpPr>
            <a:spLocks noGrp="1"/>
          </p:cNvSpPr>
          <p:nvPr>
            <p:ph idx="1"/>
          </p:nvPr>
        </p:nvSpPr>
        <p:spPr/>
        <p:txBody>
          <a:bodyPr/>
          <a:lstStyle/>
          <a:p>
            <a:r>
              <a:rPr lang="en-US" dirty="0"/>
              <a:t>We train our model in different variations (blur, flip, noise) to make the result accurate and effective.</a:t>
            </a:r>
          </a:p>
          <a:p>
            <a:r>
              <a:rPr lang="en-US" dirty="0"/>
              <a:t>We label the object after drawing the bounding boxes and give it to the training model as input to train the model.</a:t>
            </a:r>
          </a:p>
          <a:p>
            <a:r>
              <a:rPr lang="en-US" dirty="0"/>
              <a:t>We deploy it using flask framework in python to our web application to bring the functionality of image classification to our web application.</a:t>
            </a:r>
          </a:p>
        </p:txBody>
      </p:sp>
    </p:spTree>
    <p:extLst>
      <p:ext uri="{BB962C8B-B14F-4D97-AF65-F5344CB8AC3E}">
        <p14:creationId xmlns:p14="http://schemas.microsoft.com/office/powerpoint/2010/main" val="1489660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CF3C-6DCF-4FB7-18E8-0E9315254E3B}"/>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6B1730AF-1570-CC88-57E7-5132D99C2BD4}"/>
              </a:ext>
            </a:extLst>
          </p:cNvPr>
          <p:cNvSpPr>
            <a:spLocks noGrp="1"/>
          </p:cNvSpPr>
          <p:nvPr>
            <p:ph idx="1"/>
          </p:nvPr>
        </p:nvSpPr>
        <p:spPr>
          <a:xfrm>
            <a:off x="838200" y="1825625"/>
            <a:ext cx="10515600" cy="3914775"/>
          </a:xfrm>
        </p:spPr>
        <p:txBody>
          <a:bodyPr>
            <a:normAutofit/>
          </a:bodyPr>
          <a:lstStyle/>
          <a:p>
            <a:pPr marL="0" indent="0">
              <a:buNone/>
            </a:pPr>
            <a:r>
              <a:rPr lang="en-US" sz="1800" dirty="0"/>
              <a:t>1. Navjot Kaur et.al., “Object classification Techniques using Machine Learning Model”, International Journal of Computer Trends and Technology (IJCTT) – Vol. 18, Dec 2014.</a:t>
            </a:r>
          </a:p>
          <a:p>
            <a:pPr marL="0" indent="0">
              <a:buNone/>
            </a:pPr>
            <a:r>
              <a:rPr lang="en-US" sz="1800" dirty="0"/>
              <a:t>2. Pawan Kumar Mishra </a:t>
            </a:r>
            <a:r>
              <a:rPr lang="en-US" sz="1800" dirty="0" err="1"/>
              <a:t>et.al.,“A</a:t>
            </a:r>
            <a:r>
              <a:rPr lang="en-US" sz="1800" dirty="0"/>
              <a:t> Study on Classification for Static and Moving Object in Video Surveillance System”, International Journal of Image, Graphics and Signal Processing, 2016.</a:t>
            </a:r>
          </a:p>
          <a:p>
            <a:pPr marL="0" indent="0">
              <a:buNone/>
            </a:pPr>
            <a:r>
              <a:rPr lang="en-US" sz="1800" dirty="0"/>
              <a:t>3. H. V. Ravish </a:t>
            </a:r>
            <a:r>
              <a:rPr lang="en-US" sz="1800" dirty="0" err="1"/>
              <a:t>Aradhya</a:t>
            </a:r>
            <a:r>
              <a:rPr lang="en-US" sz="1800" dirty="0"/>
              <a:t> et.al., “Real time objects detection and positioning in multiple regions using single fixed camera view for video surveillance applications”, International Conference on Electrical Electronics Signals Communication and Optimization (EESCO), 2015, pp.1-6.</a:t>
            </a:r>
          </a:p>
          <a:p>
            <a:pPr marL="0" indent="0">
              <a:buNone/>
            </a:pPr>
            <a:r>
              <a:rPr lang="en-US" sz="1800" dirty="0"/>
              <a:t>4. S. K. </a:t>
            </a:r>
            <a:r>
              <a:rPr lang="en-US" sz="1800" dirty="0" err="1"/>
              <a:t>Mankani</a:t>
            </a:r>
            <a:r>
              <a:rPr lang="en-US" sz="1800" dirty="0"/>
              <a:t> et.al., “Real-time implementation of object detection and tracking on DSP for video surveillance applications”, International Conference on Recent Trends in Electronics, Information &amp; Communication Technology, 2016, pp. 1965-1969.</a:t>
            </a:r>
          </a:p>
          <a:p>
            <a:pPr marL="0" indent="0">
              <a:buNone/>
            </a:pPr>
            <a:r>
              <a:rPr lang="en-US" sz="1800" dirty="0"/>
              <a:t>5. Y. Li et.al.,“ Eye-gaze tracking system by </a:t>
            </a:r>
            <a:r>
              <a:rPr lang="en-US" sz="1800" dirty="0" err="1"/>
              <a:t>haar</a:t>
            </a:r>
            <a:r>
              <a:rPr lang="en-US" sz="1800" dirty="0"/>
              <a:t> cascade classifier” 2016 IEEE 11th Conference on Industrial Electronics and Applications (ICIEA), Hefei, 2016, pp. 564-567</a:t>
            </a:r>
          </a:p>
          <a:p>
            <a:endParaRPr lang="en-US" sz="1800" dirty="0"/>
          </a:p>
        </p:txBody>
      </p:sp>
    </p:spTree>
    <p:extLst>
      <p:ext uri="{BB962C8B-B14F-4D97-AF65-F5344CB8AC3E}">
        <p14:creationId xmlns:p14="http://schemas.microsoft.com/office/powerpoint/2010/main" val="1928123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646F-7053-D7E2-AF33-4763FE2C0879}"/>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35675754-EA49-92C0-3A33-5DB5106DC529}"/>
              </a:ext>
            </a:extLst>
          </p:cNvPr>
          <p:cNvSpPr>
            <a:spLocks noGrp="1"/>
          </p:cNvSpPr>
          <p:nvPr>
            <p:ph idx="1"/>
          </p:nvPr>
        </p:nvSpPr>
        <p:spPr/>
        <p:txBody>
          <a:bodyPr>
            <a:normAutofit/>
          </a:bodyPr>
          <a:lstStyle/>
          <a:p>
            <a:pPr marL="0" indent="0">
              <a:buNone/>
            </a:pPr>
            <a:r>
              <a:rPr lang="en-US" sz="1800" dirty="0"/>
              <a:t>6. S. </a:t>
            </a:r>
            <a:r>
              <a:rPr lang="en-US" sz="1800" dirty="0" err="1"/>
              <a:t>Sajjanar</a:t>
            </a:r>
            <a:r>
              <a:rPr lang="en-US" sz="1800" dirty="0"/>
              <a:t> </a:t>
            </a:r>
            <a:r>
              <a:rPr lang="en-US" sz="1800" dirty="0" err="1"/>
              <a:t>et.al.,“Implementation</a:t>
            </a:r>
            <a:r>
              <a:rPr lang="en-US" sz="1800" dirty="0"/>
              <a:t> of real time moving object detection and tracking on FPGA for video surveillance applications”, 2016 IEEE Distributed Computing, VLSI, Electrical Circuits and Robotics,2016, pp. 289-295.</a:t>
            </a:r>
          </a:p>
          <a:p>
            <a:pPr marL="0" indent="0">
              <a:buNone/>
            </a:pPr>
            <a:r>
              <a:rPr lang="en-US" sz="1800" dirty="0"/>
              <a:t>7. Mohana et.al., “Elegant and efficient algorithms for real time object detection, counting and classification for video surveillance applications from single fixed camera” International Conference on Circuits, Controls, Communications and Computing (I4C),2016, pp. 1-7.</a:t>
            </a:r>
          </a:p>
          <a:p>
            <a:pPr marL="0" indent="0">
              <a:buNone/>
            </a:pPr>
            <a:r>
              <a:rPr lang="en-US" sz="1800" dirty="0"/>
              <a:t>8. </a:t>
            </a:r>
            <a:r>
              <a:rPr lang="en-US" sz="1800" dirty="0" err="1"/>
              <a:t>Ekrem</a:t>
            </a:r>
            <a:r>
              <a:rPr lang="en-US" sz="1800" dirty="0"/>
              <a:t> </a:t>
            </a:r>
            <a:r>
              <a:rPr lang="en-US" sz="1800" dirty="0" err="1"/>
              <a:t>Başer</a:t>
            </a:r>
            <a:r>
              <a:rPr lang="en-US" sz="1800" dirty="0"/>
              <a:t> et.al., “Detection and classification of vehicles in traffic by using </a:t>
            </a:r>
            <a:r>
              <a:rPr lang="en-US" sz="1800" dirty="0" err="1"/>
              <a:t>haar</a:t>
            </a:r>
            <a:r>
              <a:rPr lang="en-US" sz="1800" dirty="0"/>
              <a:t> cascade classifier”, 58th ISERD International Conference, Prague, Czech Republic, 23rd-24th December 2016.</a:t>
            </a:r>
          </a:p>
          <a:p>
            <a:pPr marL="0" indent="0">
              <a:buNone/>
            </a:pPr>
            <a:r>
              <a:rPr lang="en-US" sz="1800" dirty="0"/>
              <a:t>9. K. He </a:t>
            </a:r>
            <a:r>
              <a:rPr lang="en-US" sz="1800" dirty="0" err="1"/>
              <a:t>et.a</a:t>
            </a:r>
            <a:r>
              <a:rPr lang="en-US" sz="1800" dirty="0"/>
              <a:t>., "Mask R-CNN," 2017 IEEE International Conference on Computer Vision (ICCV), Venice, 2017, pp. 2980-2988.</a:t>
            </a:r>
          </a:p>
          <a:p>
            <a:pPr marL="0" indent="0">
              <a:buNone/>
            </a:pPr>
            <a:r>
              <a:rPr lang="en-US" sz="1800" dirty="0"/>
              <a:t>10. S. Zhang </a:t>
            </a:r>
            <a:r>
              <a:rPr lang="en-US" sz="1800" dirty="0" err="1"/>
              <a:t>et.al.,"New</a:t>
            </a:r>
            <a:r>
              <a:rPr lang="en-US" sz="1800" dirty="0"/>
              <a:t> Object Detection, Tracking, and Recognition Approaches for Video Surveillance over Camera Network," in IEEE Sensors Journal, vol. 15, no. 5, pp. 2679-2691.</a:t>
            </a:r>
          </a:p>
        </p:txBody>
      </p:sp>
    </p:spTree>
    <p:extLst>
      <p:ext uri="{BB962C8B-B14F-4D97-AF65-F5344CB8AC3E}">
        <p14:creationId xmlns:p14="http://schemas.microsoft.com/office/powerpoint/2010/main" val="98458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A88C7F-BD1A-2BAD-83CB-EA0E3E536CF8}"/>
              </a:ext>
            </a:extLst>
          </p:cNvPr>
          <p:cNvSpPr txBox="1"/>
          <p:nvPr/>
        </p:nvSpPr>
        <p:spPr>
          <a:xfrm>
            <a:off x="3820160" y="2875002"/>
            <a:ext cx="5212080" cy="1107996"/>
          </a:xfrm>
          <a:prstGeom prst="rect">
            <a:avLst/>
          </a:prstGeom>
          <a:noFill/>
        </p:spPr>
        <p:txBody>
          <a:bodyPr wrap="square" rtlCol="0">
            <a:spAutoFit/>
          </a:bodyPr>
          <a:lstStyle/>
          <a:p>
            <a:pPr algn="ctr"/>
            <a:r>
              <a:rPr lang="en-US" sz="6600" dirty="0"/>
              <a:t>Thank You</a:t>
            </a:r>
          </a:p>
        </p:txBody>
      </p:sp>
    </p:spTree>
    <p:extLst>
      <p:ext uri="{BB962C8B-B14F-4D97-AF65-F5344CB8AC3E}">
        <p14:creationId xmlns:p14="http://schemas.microsoft.com/office/powerpoint/2010/main" val="3253197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TotalTime>
  <Words>1348</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Google Sans</vt:lpstr>
      <vt:lpstr>Times New Roman</vt:lpstr>
      <vt:lpstr>Office Theme</vt:lpstr>
      <vt:lpstr>PowerPoint Presentation</vt:lpstr>
      <vt:lpstr>Title       -     Snap Classy </vt:lpstr>
      <vt:lpstr>Abstract</vt:lpstr>
      <vt:lpstr>Abstract</vt:lpstr>
      <vt:lpstr>Introduction</vt:lpstr>
      <vt:lpstr>Introduction</vt:lpstr>
      <vt:lpstr>Literature Review</vt:lpstr>
      <vt:lpstr>Problem Identification</vt:lpstr>
      <vt:lpstr>Problem Identification</vt:lpstr>
      <vt:lpstr>Proposed System</vt:lpstr>
      <vt:lpstr>Proposed system</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Snap Classy </dc:title>
  <dc:creator>Pavan Narendra</dc:creator>
  <cp:lastModifiedBy>Pavan Narendra</cp:lastModifiedBy>
  <cp:revision>3</cp:revision>
  <dcterms:created xsi:type="dcterms:W3CDTF">2024-01-21T17:42:27Z</dcterms:created>
  <dcterms:modified xsi:type="dcterms:W3CDTF">2024-01-29T03:29:46Z</dcterms:modified>
</cp:coreProperties>
</file>